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13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2438" y="43"/>
      </p:cViewPr>
      <p:guideLst>
        <p:guide orient="horz" pos="3120"/>
        <p:guide pos="13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Domestic Revenue </a:t>
            </a:r>
          </a:p>
          <a:p>
            <a:pPr>
              <a:defRPr b="1"/>
            </a:pPr>
            <a:r>
              <a:rPr lang="en-US" b="1" dirty="0"/>
              <a:t>(₹ Crore)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Domestic Revenue (₹ Crore)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76-4DCF-879D-6B0129E5C1B5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276-4DCF-879D-6B0129E5C1B5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276-4DCF-879D-6B0129E5C1B5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276-4DCF-879D-6B0129E5C1B5}"/>
              </c:ext>
            </c:extLst>
          </c:dPt>
          <c:dPt>
            <c:idx val="4"/>
            <c:invertIfNegative val="0"/>
            <c:bubble3D val="0"/>
            <c:spPr>
              <a:solidFill>
                <a:srgbClr val="E529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276-4DCF-879D-6B0129E5C1B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Sheet1!$B$3:$B$7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Sheet1!$C$3:$C$7</c:f>
              <c:numCache>
                <c:formatCode>General</c:formatCode>
                <c:ptCount val="5"/>
                <c:pt idx="0">
                  <c:v>148</c:v>
                </c:pt>
                <c:pt idx="1">
                  <c:v>238</c:v>
                </c:pt>
                <c:pt idx="2">
                  <c:v>314</c:v>
                </c:pt>
                <c:pt idx="3">
                  <c:v>303</c:v>
                </c:pt>
                <c:pt idx="4">
                  <c:v>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276-4DCF-879D-6B0129E5C1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0853872"/>
        <c:axId val="1430855312"/>
      </c:barChart>
      <c:catAx>
        <c:axId val="1430853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0855312"/>
        <c:crosses val="autoZero"/>
        <c:auto val="1"/>
        <c:lblAlgn val="ctr"/>
        <c:lblOffset val="100"/>
        <c:noMultiLvlLbl val="0"/>
      </c:catAx>
      <c:valAx>
        <c:axId val="14308553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0853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Exports Revenue</a:t>
            </a:r>
          </a:p>
          <a:p>
            <a:pPr>
              <a:defRPr b="1"/>
            </a:pPr>
            <a:r>
              <a:rPr lang="en-US" b="1"/>
              <a:t> (₹ Crore)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Sheet1!$F$2</c:f>
              <c:strCache>
                <c:ptCount val="1"/>
                <c:pt idx="0">
                  <c:v>Exports (₹ Crore)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B4-49AB-8976-FA0B6A471928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3B4-49AB-8976-FA0B6A471928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3B4-49AB-8976-FA0B6A471928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3B4-49AB-8976-FA0B6A471928}"/>
              </c:ext>
            </c:extLst>
          </c:dPt>
          <c:dPt>
            <c:idx val="4"/>
            <c:invertIfNegative val="0"/>
            <c:bubble3D val="0"/>
            <c:spPr>
              <a:solidFill>
                <a:srgbClr val="E529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3B4-49AB-8976-FA0B6A47192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Sheet1!$E$3:$E$7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Sheet1!$F$3:$F$7</c:f>
              <c:numCache>
                <c:formatCode>General</c:formatCode>
                <c:ptCount val="5"/>
                <c:pt idx="0">
                  <c:v>332</c:v>
                </c:pt>
                <c:pt idx="1">
                  <c:v>421</c:v>
                </c:pt>
                <c:pt idx="2">
                  <c:v>638</c:v>
                </c:pt>
                <c:pt idx="3">
                  <c:v>611</c:v>
                </c:pt>
                <c:pt idx="4">
                  <c:v>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3B4-49AB-8976-FA0B6A471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2318800"/>
        <c:axId val="1642324080"/>
      </c:barChart>
      <c:catAx>
        <c:axId val="164231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324080"/>
        <c:crosses val="autoZero"/>
        <c:auto val="1"/>
        <c:lblAlgn val="ctr"/>
        <c:lblOffset val="100"/>
        <c:noMultiLvlLbl val="0"/>
      </c:catAx>
      <c:valAx>
        <c:axId val="1642324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318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Sheet1!$C$12</c:f>
              <c:strCache>
                <c:ptCount val="1"/>
                <c:pt idx="0">
                  <c:v>EBITDA Margin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45A-4F5D-8DFE-8CCF71AE5B13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5A-4F5D-8DFE-8CCF71AE5B13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45A-4F5D-8DFE-8CCF71AE5B13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45A-4F5D-8DFE-8CCF71AE5B13}"/>
              </c:ext>
            </c:extLst>
          </c:dPt>
          <c:dPt>
            <c:idx val="4"/>
            <c:invertIfNegative val="0"/>
            <c:bubble3D val="0"/>
            <c:spPr>
              <a:solidFill>
                <a:srgbClr val="E529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45A-4F5D-8DFE-8CCF71AE5B13}"/>
              </c:ext>
            </c:extLst>
          </c:dPt>
          <c:dLbls>
            <c:dLbl>
              <c:idx val="4"/>
              <c:spPr>
                <a:noFill/>
                <a:ln>
                  <a:solidFill>
                    <a:schemeClr val="tx1"/>
                  </a:solidFill>
                  <a:prstDash val="sysDot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345A-4F5D-8DFE-8CCF71AE5B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Sheet1!$B$13:$B$17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Sheet1!$C$13:$C$17</c:f>
              <c:numCache>
                <c:formatCode>0%</c:formatCode>
                <c:ptCount val="5"/>
                <c:pt idx="0">
                  <c:v>0.20668154234354461</c:v>
                </c:pt>
                <c:pt idx="1">
                  <c:v>0.15718510654432394</c:v>
                </c:pt>
                <c:pt idx="2">
                  <c:v>0.1625933433459717</c:v>
                </c:pt>
                <c:pt idx="3">
                  <c:v>0.20148127078592704</c:v>
                </c:pt>
                <c:pt idx="4">
                  <c:v>0.18091094440488145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45A-4F5D-8DFE-8CCF71AE5B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2351920"/>
        <c:axId val="1642343760"/>
      </c:barChart>
      <c:catAx>
        <c:axId val="1642351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343760"/>
        <c:crosses val="autoZero"/>
        <c:auto val="1"/>
        <c:lblAlgn val="ctr"/>
        <c:lblOffset val="100"/>
        <c:noMultiLvlLbl val="0"/>
      </c:catAx>
      <c:valAx>
        <c:axId val="1642343760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2351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0.71154</cdr:x>
      <cdr:y>0.13304</cdr:y>
    </cdr:from>
    <cdr:to>
      <cdr:x>0.88905</cdr:x>
      <cdr:y>0.22616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A3264D7D-586F-0B06-491A-FE53EEF26F16}"/>
            </a:ext>
          </a:extLst>
        </cdr:cNvPr>
        <cdr:cNvSpPr txBox="1"/>
      </cdr:nvSpPr>
      <cdr:spPr>
        <a:xfrm xmlns:a="http://schemas.openxmlformats.org/drawingml/2006/main">
          <a:off x="3665220" y="457200"/>
          <a:ext cx="914400" cy="3200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IN" sz="1100" kern="120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76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08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19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474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5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32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93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515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3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623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71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6AF1A-CABC-4D37-B356-0D819B05C67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21CA8-4AB5-45A8-B88C-6DCBF8AD0F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8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F6BEC8-1386-782E-51ED-31CE0AAA7AD2}"/>
              </a:ext>
            </a:extLst>
          </p:cNvPr>
          <p:cNvSpPr txBox="1"/>
          <p:nvPr/>
        </p:nvSpPr>
        <p:spPr>
          <a:xfrm>
            <a:off x="2735179" y="441521"/>
            <a:ext cx="3858125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Thesis 1: Export led Growth Engine- Stylam Industries limited focusing on Volume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 FY25 the export revenue account ~71% (INR  731Cr.)of the revenue, YoY ~20%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Management is focusing on the export more than import because in the export business the distribution cost is less ~0.5% as compare to the domestic distribution cost of ~25%.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Stylma already in the business with global top player by being an OEM/White labeler than will help to increase the operation scale.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28970-856C-0C1F-22BD-AB8F36CD2EFE}"/>
              </a:ext>
            </a:extLst>
          </p:cNvPr>
          <p:cNvSpPr txBox="1"/>
          <p:nvPr/>
        </p:nvSpPr>
        <p:spPr>
          <a:xfrm>
            <a:off x="0" y="0"/>
            <a:ext cx="6858000" cy="369332"/>
          </a:xfrm>
          <a:prstGeom prst="rect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Investment Summary: </a:t>
            </a:r>
            <a:r>
              <a:rPr lang="en-US" b="1" dirty="0">
                <a:solidFill>
                  <a:schemeClr val="bg1"/>
                </a:solidFill>
              </a:rPr>
              <a:t>STYLAM INDUSTRIES LIMITED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EBB79-EE27-4E46-2A94-D0970694DEE7}"/>
              </a:ext>
            </a:extLst>
          </p:cNvPr>
          <p:cNvSpPr txBox="1"/>
          <p:nvPr/>
        </p:nvSpPr>
        <p:spPr>
          <a:xfrm>
            <a:off x="2735178" y="3211510"/>
            <a:ext cx="393833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Thesis 2: Capex led Growth 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management has committed to a greenfield capex of ~ 200 – 300 Cr. Which is under construction as of January 2026.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This Capex will increase the capacity ~ 50+% from the current operational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Management Guidance: The revenue potential is ~ 750- 800 Cr. at peak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7F673-EFAC-39C9-916C-75B4DE7B86E7}"/>
              </a:ext>
            </a:extLst>
          </p:cNvPr>
          <p:cNvSpPr txBox="1"/>
          <p:nvPr/>
        </p:nvSpPr>
        <p:spPr>
          <a:xfrm>
            <a:off x="2735176" y="7707176"/>
            <a:ext cx="401052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Thesis 3: Product Improvement with technological leverage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Stylam is global pioneer in producing hot coating press and also focusing on TouchMe (anti fingerprint), GlassPro+ ( High glossy).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export Pricing of the company is ~ 155- 156/Kg, domestic ~ 130/Kg.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AE11F-9D60-903B-B415-4637FC560BE8}"/>
              </a:ext>
            </a:extLst>
          </p:cNvPr>
          <p:cNvSpPr txBox="1"/>
          <p:nvPr/>
        </p:nvSpPr>
        <p:spPr>
          <a:xfrm>
            <a:off x="2735177" y="5382399"/>
            <a:ext cx="40907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Thesis 3: Strong Balance sheet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 the end of FY25 the company is declare itself a debt free company.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 The company has posted EBITDA margin of ~ 18% despite the input cos pressure.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Companie’s ROE ~20%,  and the ROCE ~18% which is more than the WACC (~ 14.32%) that suggest company is generating value on the invested capital.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9DD859B-82B2-D6D6-955F-A6FAAC9B9D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2134"/>
              </p:ext>
            </p:extLst>
          </p:nvPr>
        </p:nvGraphicFramePr>
        <p:xfrm>
          <a:off x="17247" y="545395"/>
          <a:ext cx="2614858" cy="2400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401455B-631D-9A38-E23A-D716E19A7714}"/>
              </a:ext>
            </a:extLst>
          </p:cNvPr>
          <p:cNvSpPr txBox="1"/>
          <p:nvPr/>
        </p:nvSpPr>
        <p:spPr>
          <a:xfrm>
            <a:off x="546634" y="3011273"/>
            <a:ext cx="1762225" cy="25391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 Year CAGR Growth ~ 15%</a:t>
            </a:r>
            <a:endParaRPr lang="en-IN" sz="1050" b="1" dirty="0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334615E-ABC4-302E-2050-3F4CCDD411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8208814"/>
              </p:ext>
            </p:extLst>
          </p:nvPr>
        </p:nvGraphicFramePr>
        <p:xfrm>
          <a:off x="32087" y="3395631"/>
          <a:ext cx="270308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10D833A-8DE6-13F5-6912-1376FECDDF9A}"/>
              </a:ext>
            </a:extLst>
          </p:cNvPr>
          <p:cNvSpPr txBox="1"/>
          <p:nvPr/>
        </p:nvSpPr>
        <p:spPr>
          <a:xfrm>
            <a:off x="546634" y="6269273"/>
            <a:ext cx="1762225" cy="25391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 Year CAGR Growth ~ 17%</a:t>
            </a:r>
            <a:endParaRPr lang="en-IN" sz="1050" b="1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9C59A6CB-B0A9-2F2F-723F-24C7A90F97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1310971"/>
              </p:ext>
            </p:extLst>
          </p:nvPr>
        </p:nvGraphicFramePr>
        <p:xfrm>
          <a:off x="0" y="6762089"/>
          <a:ext cx="273517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C430374-C73C-64AE-C5F8-21BAA472D9D4}"/>
              </a:ext>
            </a:extLst>
          </p:cNvPr>
          <p:cNvSpPr txBox="1"/>
          <p:nvPr/>
        </p:nvSpPr>
        <p:spPr>
          <a:xfrm>
            <a:off x="5382860" y="9647233"/>
            <a:ext cx="14318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b="1" dirty="0"/>
              <a:t>Source : Company Report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748815-6BFB-AF56-549B-FC7F0B8CBDBD}"/>
              </a:ext>
            </a:extLst>
          </p:cNvPr>
          <p:cNvCxnSpPr>
            <a:cxnSpLocks/>
          </p:cNvCxnSpPr>
          <p:nvPr/>
        </p:nvCxnSpPr>
        <p:spPr>
          <a:xfrm>
            <a:off x="2818263" y="914400"/>
            <a:ext cx="341194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BA1150-EC5B-31B8-BF67-48DB4B5A1006}"/>
              </a:ext>
            </a:extLst>
          </p:cNvPr>
          <p:cNvCxnSpPr>
            <a:cxnSpLocks/>
          </p:cNvCxnSpPr>
          <p:nvPr/>
        </p:nvCxnSpPr>
        <p:spPr>
          <a:xfrm>
            <a:off x="2818263" y="3509750"/>
            <a:ext cx="341194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4274C4-60EC-3EA1-BE0C-1114AB5B6B3A}"/>
              </a:ext>
            </a:extLst>
          </p:cNvPr>
          <p:cNvCxnSpPr>
            <a:cxnSpLocks/>
          </p:cNvCxnSpPr>
          <p:nvPr/>
        </p:nvCxnSpPr>
        <p:spPr>
          <a:xfrm>
            <a:off x="2818263" y="5647512"/>
            <a:ext cx="341194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96B326-F648-0DBA-F5F8-908D62564141}"/>
              </a:ext>
            </a:extLst>
          </p:cNvPr>
          <p:cNvCxnSpPr>
            <a:cxnSpLocks/>
          </p:cNvCxnSpPr>
          <p:nvPr/>
        </p:nvCxnSpPr>
        <p:spPr>
          <a:xfrm>
            <a:off x="2818263" y="8236424"/>
            <a:ext cx="341194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60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0"/>
    </mc:Choice>
    <mc:Fallback xmlns="">
      <p:transition spd="slow" advTm="266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</TotalTime>
  <Words>316</Words>
  <Application>Microsoft Office PowerPoint</Application>
  <PresentationFormat>A4 Paper (210x297 mm)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waqar ahmad</dc:creator>
  <cp:lastModifiedBy>waqar ahmad</cp:lastModifiedBy>
  <cp:revision>4</cp:revision>
  <dcterms:created xsi:type="dcterms:W3CDTF">2026-01-26T13:54:43Z</dcterms:created>
  <dcterms:modified xsi:type="dcterms:W3CDTF">2026-01-30T04:35:26Z</dcterms:modified>
</cp:coreProperties>
</file>